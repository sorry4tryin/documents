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800" b="1">
                <a:solidFill>
                  <a:srgbClr val="FFFFFF"/>
                </a:solidFill>
                <a:latin typeface="Calibri"/>
              </a:rPr>
              <a:t>Mobile Device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400" b="0">
                <a:solidFill>
                  <a:srgbClr val="BDD7EE"/>
                </a:solidFill>
                <a:latin typeface="Calibri"/>
              </a:rPr>
              <a:t>Protecting the Museum's Patron-Facing and Employee Mobile Devices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Bay Point Ridge Security  |  Case Project 6-9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9DC3E6"/>
                </a:solidFill>
                <a:latin typeface="Calibri"/>
              </a:rPr>
              <a:t>Prepared for the museum executive board and staff  |  Module 6 - Mobile and Embedded Device Security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9DC3E6"/>
                </a:solidFill>
                <a:latin typeface="Calibri"/>
              </a:rPr>
              <a:t>THE INCIDENT AT THE MUSEUM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Why This Presentation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800" b="1">
                <a:solidFill>
                  <a:srgbClr val="262626"/>
                </a:solidFill>
                <a:latin typeface="Calibri"/>
              </a:rPr>
              <a:t>▪  A patron circumvented the security on a museum mobile device and accessed inappropriate content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800" b="0">
                <a:solidFill>
                  <a:srgbClr val="262626"/>
                </a:solidFill>
                <a:latin typeface="Calibri"/>
              </a:rPr>
              <a:t>▪  The device was not examined after it was turned in, so the next patron was exposed to that content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800" b="0">
                <a:solidFill>
                  <a:srgbClr val="262626"/>
                </a:solidFill>
                <a:latin typeface="Calibri"/>
              </a:rPr>
              <a:t>▪  The executive board wants to: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800" b="0">
                <a:solidFill>
                  <a:srgbClr val="595959"/>
                </a:solidFill>
                <a:latin typeface="Calibri"/>
              </a:rPr>
              <a:t>–  Prevent this from recurring on patron-facing devices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800" b="0">
                <a:solidFill>
                  <a:srgbClr val="595959"/>
                </a:solidFill>
                <a:latin typeface="Calibri"/>
              </a:rPr>
              <a:t>–  Ensure all employee mobile devices are secure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800" b="0">
                <a:solidFill>
                  <a:srgbClr val="262626"/>
                </a:solidFill>
                <a:latin typeface="Calibri"/>
              </a:rPr>
              <a:t>▪  BPRS has been asked to present mobile device security risks and the steps to secure devices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800" b="1">
                <a:solidFill>
                  <a:srgbClr val="262626"/>
                </a:solidFill>
                <a:latin typeface="Calibri"/>
              </a:rPr>
              <a:t>▪  We will cover this from three perspectives: the organization, the IT department, and the user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595959"/>
                </a:solidFill>
                <a:latin typeface="Calibri"/>
              </a:rPr>
              <a:t>Case Project 6-9: Bay Point Ridge Security - Objective: Protect mobile devices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9DC3E6"/>
                </a:solidFill>
                <a:latin typeface="Calibri"/>
              </a:rPr>
              <a:t>SECURITY RISKS OF MOBILE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Mobile Technology Risks: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800" b="1">
                <a:solidFill>
                  <a:srgbClr val="262626"/>
                </a:solidFill>
                <a:latin typeface="Calibri"/>
              </a:rPr>
              <a:t>▪  Physical security - portability is the greatest asset and the greatest vulnerability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800" b="0">
                <a:solidFill>
                  <a:srgbClr val="595959"/>
                </a:solidFill>
                <a:latin typeface="Calibri"/>
              </a:rPr>
              <a:t>–  A laptop is stolen every 53 seconds; 70 million smartphones are lost annually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800" b="0">
                <a:solidFill>
                  <a:srgbClr val="262626"/>
                </a:solidFill>
                <a:latin typeface="Calibri"/>
              </a:rPr>
              <a:t>▪  Limited updates - Apple commits to 4+ years of OTA updates; Android varies by manufacturer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800" b="0">
                <a:solidFill>
                  <a:srgbClr val="262626"/>
                </a:solidFill>
                <a:latin typeface="Calibri"/>
              </a:rPr>
              <a:t>▪  Location tracking - GPS enables geolocation but creates risk of targeted physical attacks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800" b="0">
                <a:solidFill>
                  <a:srgbClr val="262626"/>
                </a:solidFill>
                <a:latin typeface="Calibri"/>
              </a:rPr>
              <a:t>▪  GPS tagging (geo-tagging) - media can inadvertently reveal private locations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800" b="0">
                <a:solidFill>
                  <a:srgbClr val="262626"/>
                </a:solidFill>
                <a:latin typeface="Calibri"/>
              </a:rPr>
              <a:t>▪  Unauthorized recording - webcams and microphones are targeted by attackers to spy on victims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800" b="0">
                <a:solidFill>
                  <a:srgbClr val="262626"/>
                </a:solidFill>
                <a:latin typeface="Calibri"/>
              </a:rPr>
              <a:t>▪  Untrusted content - unapproved apps, messaging links, and malicious QR codes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595959"/>
                </a:solidFill>
                <a:latin typeface="Calibri"/>
              </a:rPr>
              <a:t>Source: CompTIA Security+ Guide to Network Security Fundamentals, Module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9DC3E6"/>
                </a:solidFill>
                <a:latin typeface="Calibri"/>
              </a:rPr>
              <a:t>HOW DEVICES BECOME COMPROMISED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Connection and Content Risks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0">
                <a:solidFill>
                  <a:srgbClr val="262626"/>
                </a:solidFill>
                <a:latin typeface="Calibri"/>
              </a:rPr>
              <a:t>▪  Tethering - an unsecured device can infect tethered devices or the corporate network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0">
                <a:solidFill>
                  <a:srgbClr val="262626"/>
                </a:solidFill>
                <a:latin typeface="Calibri"/>
              </a:rPr>
              <a:t>▪  USB On-the-Go (OTG) - a malicious flash drive can infect the device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0">
                <a:solidFill>
                  <a:srgbClr val="262626"/>
                </a:solidFill>
                <a:latin typeface="Calibri"/>
              </a:rPr>
              <a:t>▪  Malicious USB cables - cables with embedded Wi-Fi controllers can receive commands from nearby devices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0">
                <a:solidFill>
                  <a:srgbClr val="262626"/>
                </a:solidFill>
                <a:latin typeface="Calibri"/>
              </a:rPr>
              <a:t>▪  Public Wi-Fi - attackers eavesdrop on data transmissions in restaurants, airports, and hotels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0">
                <a:solidFill>
                  <a:srgbClr val="262626"/>
                </a:solidFill>
                <a:latin typeface="Calibri"/>
              </a:rPr>
              <a:t>▪  Unapproved apps - jailbreaking (iOS) or rooting (Android) enables sideloading from unofficial stores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0">
                <a:solidFill>
                  <a:srgbClr val="262626"/>
                </a:solidFill>
                <a:latin typeface="Calibri"/>
              </a:rPr>
              <a:t>▪  Messaging - SMS, MMS, and RCS links can deliver crafted malicious content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0">
                <a:solidFill>
                  <a:srgbClr val="262626"/>
                </a:solidFill>
                <a:latin typeface="Calibri"/>
              </a:rPr>
              <a:t>▪  QR codes - malicious codes direct users to imposter websites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595959"/>
                </a:solidFill>
                <a:latin typeface="Calibri"/>
              </a:rPr>
              <a:t>These risks apply to both patron-facing kiosk devices and employee-owned devices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834640"/>
            <a:ext cx="1463040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9DC3E6"/>
                </a:solidFill>
                <a:latin typeface="Calibri"/>
              </a:rPr>
              <a:t>PERSPECTIVE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1752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The Organization's Perspective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9DC3E6"/>
                </a:solidFill>
                <a:latin typeface="Calibri"/>
              </a:rPr>
              <a:t>ORGANIZATION - POLICY AND OVERSIGHT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What the Organization Must 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800" b="1">
                <a:solidFill>
                  <a:srgbClr val="262626"/>
                </a:solidFill>
                <a:latin typeface="Calibri"/>
              </a:rPr>
              <a:t>▪  Adopt a formal mobile device policy covering patron-facing and employee devices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800" b="0">
                <a:solidFill>
                  <a:srgbClr val="262626"/>
                </a:solidFill>
                <a:latin typeface="Calibri"/>
              </a:rPr>
              <a:t>▪  Choose a deployment model for employee devices: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800" b="0">
                <a:solidFill>
                  <a:srgbClr val="595959"/>
                </a:solidFill>
                <a:latin typeface="Calibri"/>
              </a:rPr>
              <a:t>–  BYOD - employees use personal devices; full responsibility on the user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800" b="0">
                <a:solidFill>
                  <a:srgbClr val="595959"/>
                </a:solidFill>
                <a:latin typeface="Calibri"/>
              </a:rPr>
              <a:t>–  COPE - company-approved devices, personally enabled; company controls choice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800" b="0">
                <a:solidFill>
                  <a:srgbClr val="595959"/>
                </a:solidFill>
                <a:latin typeface="Calibri"/>
              </a:rPr>
              <a:t>–  CYOD - employees choose from approved devices; company provides a stipend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800" b="0">
                <a:solidFill>
                  <a:srgbClr val="595959"/>
                </a:solidFill>
                <a:latin typeface="Calibri"/>
              </a:rPr>
              <a:t>–  Corporate-owned - device used strictly for museum business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800" b="0">
                <a:solidFill>
                  <a:srgbClr val="262626"/>
                </a:solidFill>
                <a:latin typeface="Calibri"/>
              </a:rPr>
              <a:t>▪  Require containerization to separate business data from personal data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800" b="1">
                <a:solidFill>
                  <a:srgbClr val="262626"/>
                </a:solidFill>
                <a:latin typeface="Calibri"/>
              </a:rPr>
              <a:t>▪  Mandate inspection of every patron device after each use - the root cause of the incident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800" b="0">
                <a:solidFill>
                  <a:srgbClr val="262626"/>
                </a:solidFill>
                <a:latin typeface="Calibri"/>
              </a:rPr>
              <a:t>▪  Fund training so staff understand risks and their responsibilities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595959"/>
                </a:solidFill>
                <a:latin typeface="Calibri"/>
              </a:rPr>
              <a:t>Policy is the foundation; every other control depends on 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834640"/>
            <a:ext cx="1463040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9DC3E6"/>
                </a:solidFill>
                <a:latin typeface="Calibri"/>
              </a:rPr>
              <a:t>PERSPECTIVE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1752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The IT Department's Perspective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9DC3E6"/>
                </a:solidFill>
                <a:latin typeface="Calibri"/>
              </a:rPr>
              <a:t>IT - TECHNICAL CONTROLS AND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What the IT Department Must 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1">
                <a:solidFill>
                  <a:srgbClr val="262626"/>
                </a:solidFill>
                <a:latin typeface="Calibri"/>
              </a:rPr>
              <a:t>▪  Deploy mobile device management to manage devices remotely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0">
                <a:solidFill>
                  <a:srgbClr val="262626"/>
                </a:solidFill>
                <a:latin typeface="Calibri"/>
              </a:rPr>
              <a:t>▪  Enforce strong authentication, encryption, and screen-lock policies on every device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0">
                <a:solidFill>
                  <a:srgbClr val="262626"/>
                </a:solidFill>
                <a:latin typeface="Calibri"/>
              </a:rPr>
              <a:t>▪  Push over-the-air (OTA) updates and patches as soon as they are available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0">
                <a:solidFill>
                  <a:srgbClr val="262626"/>
                </a:solidFill>
                <a:latin typeface="Calibri"/>
              </a:rPr>
              <a:t>▪  Use geofencing to define where museum apps may be used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0">
                <a:solidFill>
                  <a:srgbClr val="262626"/>
                </a:solidFill>
                <a:latin typeface="Calibri"/>
              </a:rPr>
              <a:t>▪  Enable loss and theft services: alarm, locate, remote lockout, thief picture, remote wipe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0">
                <a:solidFill>
                  <a:srgbClr val="262626"/>
                </a:solidFill>
                <a:latin typeface="Calibri"/>
              </a:rPr>
              <a:t>▪  Detect jailbroken or rooted devices and quarantine them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1">
                <a:solidFill>
                  <a:srgbClr val="262626"/>
                </a:solidFill>
                <a:latin typeface="Calibri"/>
              </a:rPr>
              <a:t>▪  Examine patron devices after every return: reset, wipe, and re-image before the next patron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0">
                <a:solidFill>
                  <a:srgbClr val="262626"/>
                </a:solidFill>
                <a:latin typeface="Calibri"/>
              </a:rPr>
              <a:t>▪  Log and monitor device activity to catch incidents early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595959"/>
                </a:solidFill>
                <a:latin typeface="Calibri"/>
              </a:rPr>
              <a:t>IT turns policy into enforced, verifiable controls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834640"/>
            <a:ext cx="1463040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9DC3E6"/>
                </a:solidFill>
                <a:latin typeface="Calibri"/>
              </a:rPr>
              <a:t>PERSPECTIVE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1752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The User's Perspective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9DC3E6"/>
                </a:solidFill>
                <a:latin typeface="Calibri"/>
              </a:rPr>
              <a:t>USER - DAILY HABITS AND RESPONSIBILITY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What Every User Must 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1">
                <a:solidFill>
                  <a:srgbClr val="262626"/>
                </a:solidFill>
                <a:latin typeface="Calibri"/>
              </a:rPr>
              <a:t>▪  Use strong authentication - passwords and biometrics are strongest; avoid swipe patterns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0">
                <a:solidFill>
                  <a:srgbClr val="262626"/>
                </a:solidFill>
                <a:latin typeface="Calibri"/>
              </a:rPr>
              <a:t>▪  Set a screen lock with a short inactivity timeout (5 seconds to 50 minutes)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0">
                <a:solidFill>
                  <a:srgbClr val="262626"/>
                </a:solidFill>
                <a:latin typeface="Calibri"/>
              </a:rPr>
              <a:t>▪  Never jailbreak or root a device, and install apps only from official stores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0">
                <a:solidFill>
                  <a:srgbClr val="262626"/>
                </a:solidFill>
                <a:latin typeface="Calibri"/>
              </a:rPr>
              <a:t>▪  Avoid public Wi-Fi for sensitive work; use a VPN when it cannot be avoided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0">
                <a:solidFill>
                  <a:srgbClr val="262626"/>
                </a:solidFill>
                <a:latin typeface="Calibri"/>
              </a:rPr>
              <a:t>▪  Do not scan unknown QR codes or open links from unexpected messages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0">
                <a:solidFill>
                  <a:srgbClr val="262626"/>
                </a:solidFill>
                <a:latin typeface="Calibri"/>
              </a:rPr>
              <a:t>▪  Report a lost or stolen device immediately so IT can lock and wipe it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0">
                <a:solidFill>
                  <a:srgbClr val="262626"/>
                </a:solidFill>
                <a:latin typeface="Calibri"/>
              </a:rPr>
              <a:t>▪  Keep the device with you - portability cuts both 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595959"/>
                </a:solidFill>
                <a:latin typeface="Calibri"/>
              </a:rPr>
              <a:t>Users are the last line of defense - and often the first to spot a problem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9DC3E6"/>
                </a:solidFill>
                <a:latin typeface="Calibri"/>
              </a:rPr>
              <a:t>STEPS TO SECURE MOBILE DEVICES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Securing Mobile Devices: Configuration and Loss Protection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800" b="1">
                <a:solidFill>
                  <a:srgbClr val="262626"/>
                </a:solidFill>
                <a:latin typeface="Calibri"/>
              </a:rPr>
              <a:t>▪  Strong authentication options (strongest to weakest):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800" b="0">
                <a:solidFill>
                  <a:srgbClr val="595959"/>
                </a:solidFill>
                <a:latin typeface="Calibri"/>
              </a:rPr>
              <a:t>–  Password - highest security, cumbersome on small keyboards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800" b="0">
                <a:solidFill>
                  <a:srgbClr val="595959"/>
                </a:solidFill>
                <a:latin typeface="Calibri"/>
              </a:rPr>
              <a:t>–  Biometrics (fingerprint / facial recognition) - high security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800" b="0">
                <a:solidFill>
                  <a:srgbClr val="595959"/>
                </a:solidFill>
                <a:latin typeface="Calibri"/>
              </a:rPr>
              <a:t>–  PIN - moderate; short PINs are predictable (1234 used in 10.71% of PINs)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800" b="0">
                <a:solidFill>
                  <a:srgbClr val="595959"/>
                </a:solidFill>
                <a:latin typeface="Calibri"/>
              </a:rPr>
              <a:t>–  Swipe pattern - lower; can be captured by shoulder surfing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800" b="0">
                <a:solidFill>
                  <a:srgbClr val="262626"/>
                </a:solidFill>
                <a:latin typeface="Calibri"/>
              </a:rPr>
              <a:t>▪  Containerization - separate business apps and data from personal data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800" b="1">
                <a:solidFill>
                  <a:srgbClr val="262626"/>
                </a:solidFill>
                <a:latin typeface="Calibri"/>
              </a:rPr>
              <a:t>▪  Loss and theft services: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800" b="0">
                <a:solidFill>
                  <a:srgbClr val="595959"/>
                </a:solidFill>
                <a:latin typeface="Calibri"/>
              </a:rPr>
              <a:t>–  Alarm, last known location, locate, remote lockout, thief picture, remote wipe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595959"/>
                </a:solidFill>
                <a:latin typeface="Calibri"/>
              </a:rPr>
              <a:t>Source: CompTIA Security+ Guide to Network Security Fundamentals, Module 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9DC3E6"/>
                </a:solidFill>
                <a:latin typeface="Calibri"/>
              </a:rPr>
              <a:t>IT - TOOLS FOR THE MUSEUM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Mobile Management Tools: MDM, MAM, MCM, UEM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1">
                <a:solidFill>
                  <a:srgbClr val="262626"/>
                </a:solidFill>
                <a:latin typeface="Calibri"/>
              </a:rPr>
              <a:t>▪  MDM - Mobile Device Management: remote management, OTA updates, email/Wi-Fi config, encryption and geofencing enforcement, jailbreak detection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0">
                <a:solidFill>
                  <a:srgbClr val="262626"/>
                </a:solidFill>
                <a:latin typeface="Calibri"/>
              </a:rPr>
              <a:t>▪  MAM - Mobile Application Management: distributing and controlling access to apps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0">
                <a:solidFill>
                  <a:srgbClr val="262626"/>
                </a:solidFill>
                <a:latin typeface="Calibri"/>
              </a:rPr>
              <a:t>▪  MCM - Mobile Content Management: content management with version control, indexing, and search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1">
                <a:solidFill>
                  <a:srgbClr val="262626"/>
                </a:solidFill>
                <a:latin typeface="Calibri"/>
              </a:rPr>
              <a:t>▪  UEM - Unified Endpoint Management: single interface for mobile and computer devices; supports MDM, MAM, and MCM capabilities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0">
                <a:solidFill>
                  <a:srgbClr val="262626"/>
                </a:solidFill>
                <a:latin typeface="Calibri"/>
              </a:rPr>
              <a:t>▪  For the museum: a UEM platform consolidates management of patron kiosk devices and employee devices in one console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0">
                <a:solidFill>
                  <a:srgbClr val="262626"/>
                </a:solidFill>
                <a:latin typeface="Calibri"/>
              </a:rPr>
              <a:t>▪  MDM alone can enforce the post-return wipe-and-reset workflow that prevents the incident from recurring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595959"/>
                </a:solidFill>
                <a:latin typeface="Calibri"/>
              </a:rPr>
              <a:t>Recommendation memo to the IT director accompanies this presentation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9DC3E6"/>
                </a:solidFill>
                <a:latin typeface="Calibri"/>
              </a:rPr>
              <a:t>PUTTING IT ALL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Recommended Action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1">
                <a:solidFill>
                  <a:srgbClr val="262626"/>
                </a:solidFill>
                <a:latin typeface="Calibri"/>
              </a:rPr>
              <a:t>▪  Immediate: implement device inspection and reset after every patron use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0">
                <a:solidFill>
                  <a:srgbClr val="262626"/>
                </a:solidFill>
                <a:latin typeface="Calibri"/>
              </a:rPr>
              <a:t>▪  Immediate: enable loss and theft services on all museum devices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0">
                <a:solidFill>
                  <a:srgbClr val="262626"/>
                </a:solidFill>
                <a:latin typeface="Calibri"/>
              </a:rPr>
              <a:t>▪  30 days: adopt a mobile device policy and choose a deployment model for employees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0">
                <a:solidFill>
                  <a:srgbClr val="262626"/>
                </a:solidFill>
                <a:latin typeface="Calibri"/>
              </a:rPr>
              <a:t>▪  60 days: deploy UEM (with MDM) across patron and employee devices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0">
                <a:solidFill>
                  <a:srgbClr val="262626"/>
                </a:solidFill>
                <a:latin typeface="Calibri"/>
              </a:rPr>
              <a:t>▪  60 days: roll out staff training on authentication, public Wi-Fi, and reporting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0">
                <a:solidFill>
                  <a:srgbClr val="262626"/>
                </a:solidFill>
                <a:latin typeface="Calibri"/>
              </a:rPr>
              <a:t>▪  Ongoing: patch management, geofencing, monitoring, and quarterly reviews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595959"/>
                </a:solidFill>
                <a:latin typeface="Calibri"/>
              </a:rPr>
              <a:t>Small steps now prevent a repeat of the incident - and protect the museum's reputation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9DC3E6"/>
                </a:solidFill>
                <a:latin typeface="Calibri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Summary and Q&amp;A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800" b="0">
                <a:solidFill>
                  <a:srgbClr val="262626"/>
                </a:solidFill>
                <a:latin typeface="Calibri"/>
              </a:rPr>
              <a:t>▪  Mobile devices are powerful - and portable - which makes them a prime target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800" b="0">
                <a:solidFill>
                  <a:srgbClr val="262626"/>
                </a:solidFill>
                <a:latin typeface="Calibri"/>
              </a:rPr>
              <a:t>▪  Risks span physical loss, connections, untrusted content, and limited updates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800" b="1">
                <a:solidFill>
                  <a:srgbClr val="262626"/>
                </a:solidFill>
                <a:latin typeface="Calibri"/>
              </a:rPr>
              <a:t>▪  Security is a shared responsibility: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800" b="0">
                <a:solidFill>
                  <a:srgbClr val="595959"/>
                </a:solidFill>
                <a:latin typeface="Calibri"/>
              </a:rPr>
              <a:t>–  Organization - policy, deployment models, containerization, training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800" b="0">
                <a:solidFill>
                  <a:srgbClr val="595959"/>
                </a:solidFill>
                <a:latin typeface="Calibri"/>
              </a:rPr>
              <a:t>–  IT - MDM/MAM/MCM/UEM, patches, geofencing, device inspection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800" b="0">
                <a:solidFill>
                  <a:srgbClr val="595959"/>
                </a:solidFill>
                <a:latin typeface="Calibri"/>
              </a:rPr>
              <a:t>–  User - strong authentication, safe habits, immediate reporting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800" b="1">
                <a:solidFill>
                  <a:srgbClr val="262626"/>
                </a:solidFill>
                <a:latin typeface="Calibri"/>
              </a:rPr>
              <a:t>▪  The museum's incident was preventable: examine every device after every use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800" b="0">
                <a:solidFill>
                  <a:srgbClr val="262626"/>
                </a:solidFill>
                <a:latin typeface="Calibri"/>
              </a:rPr>
              <a:t>▪  Questions?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595959"/>
                </a:solidFill>
                <a:latin typeface="Calibri"/>
              </a:rPr>
              <a:t>Thank you - Bay Point Ridge Security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